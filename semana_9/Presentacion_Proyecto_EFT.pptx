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188720"/>
            <a:ext cx="85340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DUOC UC • ESCUELA DE INFORMÁTICA Y TELECOMUNICACIONES</a:t>
            </a:r>
          </a:p>
          <a:p>
            <a:pPr algn="ctr">
              <a:spcBef>
                <a:spcPts val="1400"/>
              </a:spcBef>
              <a:defRPr sz="3400" b="1">
                <a:solidFill>
                  <a:srgbClr val="FFFFFF"/>
                </a:solidFill>
              </a:defRPr>
            </a:pPr>
            <a:r>
              <a:t>Sistema Web de Reserva de Hotel</a:t>
            </a:r>
          </a:p>
          <a:p>
            <a:pPr algn="ctr">
              <a:spcBef>
                <a:spcPts val="600"/>
              </a:spcBef>
              <a:defRPr sz="1800">
                <a:solidFill>
                  <a:srgbClr val="94A3B8"/>
                </a:solidFill>
              </a:defRPr>
            </a:pPr>
            <a:r>
              <a:t>Evaluación Final Transversal (EFT) • Semana 9</a:t>
            </a:r>
          </a:p>
          <a:p>
            <a:pPr algn="ctr">
              <a:spcBef>
                <a:spcPts val="2400"/>
              </a:spcBef>
              <a:defRPr sz="1300">
                <a:solidFill>
                  <a:srgbClr val="E2E8F0"/>
                </a:solidFill>
              </a:defRPr>
            </a:pPr>
            <a:r>
              <a:t>Asignatura: Ingeniería de Software (PRY3211)</a:t>
            </a:r>
            <a:br/>
            <a:r>
              <a:t>Carrera: Analista Programador Computacional</a:t>
            </a:r>
            <a:br/>
            <a:r>
              <a:t>Estudiante: Adolfo Leal Lara</a:t>
            </a:r>
            <a:br/>
            <a:r>
              <a:t>Profesor Guía: Jorge Antonio Canales Soto</a:t>
            </a:r>
            <a:br/>
            <a:r>
              <a:t>Fecha: 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PRY3211 • INGENIERÍA DE SOFTWARE • EVALUACIÓN FINAL TRANSVERSAL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1. Contexto del Problema y Propósito de la Solución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Problemática y Necesidad del Negocio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• Procesos Ineficientes: Registro manual y descentralizado de reservas hoteleras con alto riesgo de sobreventa (overbooking).</a:t>
            </a:r>
            <a:br/>
            <a:r>
              <a:t>• Falta de Visibilidad: Los turistas no cuentan con confirmación en tiempo real de disponibilidad ni cotizaciones en su divisa local.</a:t>
            </a:r>
            <a:br/>
            <a:r>
              <a:t>• Gestión Administrativa Lenta: Ausencia de un panel unificado para monitorear el estado de habitaciones y reservas activas.</a:t>
            </a:r>
            <a:br/>
            <a:r>
              <a:t>• Solución Propuesta: Sistema web autónomo en 3 capas con control de acceso por roles, cálculo dinámico multimoneda y persistencia transaccional.</a:t>
            </a:r>
          </a:p>
        </p:txBody>
      </p:sp>
      <p:pic>
        <p:nvPicPr>
          <p:cNvPr id="7" name="Picture 6" descr="frontend_turi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34504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PRY3211 • INGENIERÍA DE SOFTWARE • EVALUACIÓN FINAL TRANSVERSAL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2. Arquitectura de Software y Modelo 4+1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Capa de Presentación (Front-End)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Plantillas EJS (Embedded JavaScript) responsivas con CSS3 moderno y AJAX para llamadas asíncronas sin recargar página.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1069848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Servidor de Aplicaciones (Back-End)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Runtime Node.js con framework Express. Controladores modulares, middleware global de sesiones (express-session) y RBAC.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Capa de Persistencia (Base de Datos)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Motor relacional SQLite estructurado con claves foráneas (FK), normalizado en 3FN (tablas Usuario, Hotel, Habitacion, Reserva).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1069848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Servicio Web Externo (API REST)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Consumo asíncrono de API de tasas de cambio con validación de payload, bloques try/catch y tolerancia a fallos.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PRY3211 • INGENIERÍA DE SOFTWARE • EVALUACIÓN FINAL TRANSVERSAL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3. Demostración en Vivo: Experiencia del Turista</a:t>
            </a:r>
          </a:p>
        </p:txBody>
      </p:sp>
      <p:pic>
        <p:nvPicPr>
          <p:cNvPr id="5" name="Picture 4" descr="checkout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486400" cy="363206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92240" y="1371600"/>
            <a:ext cx="493776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5544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Funcionalidades del Portal Turista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• Búsqueda Validada: Filtro por rango de fechas (Check-in / Check-out) y validación de reglas de negocio para impedir fechas inconsistentes.</a:t>
            </a:r>
            <a:br/>
            <a:br/>
            <a:r>
              <a:t>• Cotizador Multimoneda: Integración dinámica vía AJAX con endpoint /api/exchange-rate, recalculando tarifas en CLP, USD y EUR.</a:t>
            </a:r>
            <a:br/>
            <a:br/>
            <a:r>
              <a:t>• Reserva y Checkout: Selección de habitación, cálculo transaccional del costo por estadía y generación automática de comprobante digital.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PRY3211 • INGENIERÍA DE SOFTWARE • EVALUACIÓN FINAL TRANSVERSAL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4. Demostración en Vivo: Panel de Administración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93776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Gestión y Control de Ocupación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• Aislamiento por Rol (RBAC): El middleware de Express restringe rutas administrativas solo a usuarios con rol 'Administrador'.</a:t>
            </a:r>
            <a:br/>
            <a:br/>
            <a:r>
              <a:t>• Monitoreo de Reservas: Tabla relacional con uniones SQL (JOIN) mostrando cliente, fechas, habitación, montos y estado actual.</a:t>
            </a:r>
            <a:br/>
            <a:br/>
            <a:r>
              <a:t>• Cancelación Inmediata: Anulación de reservas con cambio a estado 'Cancelada' y liberación automática del cupo.</a:t>
            </a:r>
            <a:br/>
            <a:br/>
            <a:r>
              <a:t>• CRUD de Habitaciones: Formulario para crear nuevas unidades y depuración del catálogo.</a:t>
            </a:r>
          </a:p>
        </p:txBody>
      </p:sp>
      <p:pic>
        <p:nvPicPr>
          <p:cNvPr id="7" name="Picture 6" descr="vista_admin_reserv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486400" cy="30621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PRY3211 • INGENIERÍA DE SOFTWARE • EVALUACIÓN FINAL TRANSVERSAL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5. Marco Ágil Scrum y Gestión con Trello</a:t>
            </a:r>
          </a:p>
        </p:txBody>
      </p:sp>
      <p:pic>
        <p:nvPicPr>
          <p:cNvPr id="5" name="Picture 4" descr="evidencia_tr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262499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75120" y="1371600"/>
            <a:ext cx="4754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55448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Gestión Visual del Flujo de Trabajo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• 3 Sprints Estructurados:</a:t>
            </a:r>
            <a:br/>
            <a:r>
              <a:t>  - Sp 1: Requerimientos &amp; UML (28 SP)</a:t>
            </a:r>
            <a:br/>
            <a:r>
              <a:t>  - Sp 2: SQLite, Backend &amp; Frontend (33 SP)</a:t>
            </a:r>
            <a:br/>
            <a:r>
              <a:t>  - Sp 3: API, QA &amp; Despliegue (28 SP)</a:t>
            </a:r>
            <a:br/>
            <a:br/>
            <a:r>
              <a:t>• Criterios de Aceptación (DoD):</a:t>
            </a:r>
            <a:br/>
            <a:r>
              <a:t>  Código limpio, integración front-back, manejo de excepciones try/catch, tests aprobados y commit en GitHub.</a:t>
            </a:r>
            <a:br/>
            <a:br/>
            <a:r>
              <a:t>• Estado Final: 100% de historias en 'Done'.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PRY3211 • INGENIERÍA DE SOFTWARE • EVALUACIÓN FINAL TRANSVERSAL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6. Project Burndown Chart y Velocidad del Equipo</a:t>
            </a:r>
          </a:p>
        </p:txBody>
      </p:sp>
      <p:pic>
        <p:nvPicPr>
          <p:cNvPr id="5" name="Picture 4" descr="burndow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943600" cy="32689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1371600"/>
            <a:ext cx="448056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55448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Análisis de Métricas Ágiles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• Alcance Total del Proyecto: 89 Story Points.</a:t>
            </a:r>
            <a:br/>
            <a:br/>
            <a:r>
              <a:t>• Velocidad Sostenida:</a:t>
            </a:r>
            <a:br/>
            <a:r>
              <a:t>  - Sprint 1: 28 SP quemados</a:t>
            </a:r>
            <a:br/>
            <a:r>
              <a:t>  - Sprint 2: 33 SP quemados</a:t>
            </a:r>
            <a:br/>
            <a:r>
              <a:t>  - Sprint 3: 28 SP quemados</a:t>
            </a:r>
            <a:br/>
            <a:r>
              <a:t>  - Velocidad Promedio: 29.7 SP / Sprint.</a:t>
            </a:r>
            <a:br/>
            <a:br/>
            <a:r>
              <a:t>• Convergencia Exitosa: Cero puntos de historia remanentes al cierre de la Semana 9 sin acumulación de deuda técnica.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PRY3211 • INGENIERÍA DE SOFTWARE • EVALUACIÓN FINAL TRANSVERSAL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7. Aseguramiento de Calidad (QA) y No Conformidades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Manual de Pruebas de Usuario (QA)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10 Casos de Prueba Funcionales ejecutados:</a:t>
            </a:r>
            <a:br/>
            <a:r>
              <a:t>  - Happy Paths: Login válido, reserva completa, checkout, emisión de comprobante y CRUD de inventario.</a:t>
            </a:r>
            <a:br/>
            <a:r>
              <a:t>  - Edge Cases: Fechas invertidas, intentos de acceso no autorizado a /admin, credenciales inválidas y tolerancia a fallos de red en API externa.</a:t>
            </a:r>
            <a:br/>
            <a:br/>
            <a:r>
              <a:t>• Pruebas Automatizadas: Script test_endpoints.js con 100% de tasa de aprobación (Pass).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Gestión de No Conformidades (ISO/ISTQB)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</a:defRPr>
            </a:pPr>
            <a:r>
              <a:t>• Alineación con Feedback Docente:</a:t>
            </a:r>
            <a:br/>
            <a:r>
              <a:t>  Se incorporaron las directrices sobre calidad de software (ISO 9001 e ISTQB) compartidas por el profesor Jorge Canales.</a:t>
            </a:r>
            <a:br/>
            <a:br/>
            <a:r>
              <a:t>• NC-01 (Integración Front-Back): Manejo robusto de excepciones ante caídas de la API con fallback seguro en moneda local CLP.</a:t>
            </a:r>
            <a:br/>
            <a:br/>
            <a:r>
              <a:t>• NC-02 (Seguridad Perimetral): Centralización del middleware de sesión para blindar rutas críticas.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PRY3211 • INGENIERÍA DE SOFTWARE • EVALUACIÓN FINAL TRANSVERSAL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8. Versionamiento Git y Repositorio de Evidencias</a:t>
            </a:r>
          </a:p>
        </p:txBody>
      </p:sp>
      <p:pic>
        <p:nvPicPr>
          <p:cNvPr id="5" name="Picture 4" descr="github_s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486400" cy="254031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92240" y="1371600"/>
            <a:ext cx="493776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5544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Repositorio Público GitHub</a:t>
            </a:r>
          </a:p>
          <a:p>
            <a:pPr>
              <a:spcBef>
                <a:spcPts val="1000"/>
              </a:spcBef>
              <a:defRPr sz="1200">
                <a:solidFill>
                  <a:srgbClr val="334155"/>
                </a:solidFill>
              </a:defRPr>
            </a:pPr>
            <a:r>
              <a:t>• URL Pública:</a:t>
            </a:r>
            <a:br/>
            <a:r>
              <a:t>  https://github.com/D99L/reserva-hotel.git</a:t>
            </a:r>
            <a:br/>
            <a:br/>
            <a:r>
              <a:t>• Trazabilidad de Commits:</a:t>
            </a:r>
            <a:br/>
            <a:r>
              <a:t>  Historial secuencial desde la concepción del proyecto hasta la entrega final de Semana 9.</a:t>
            </a:r>
            <a:br/>
            <a:br/>
            <a:r>
              <a:t>• Paquete Autónomo Comprimido:</a:t>
            </a:r>
            <a:br/>
            <a:r>
              <a:t>  Archivo reserva-hotel-final-eft.zip conteniendo código front-end, back-end, SQLite y documentación.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PRY3211 • INGENIERÍA DE SOFTWARE • EVALUACIÓN FINAL TRANSVERSAL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9. Conclusiones y Reflexión Profesional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10362895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64592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Aprendizajes e Impacto en la Carrera de Analista Programador Computacional</a:t>
            </a:r>
          </a:p>
          <a:p>
            <a:pPr>
              <a:spcBef>
                <a:spcPts val="1400"/>
              </a:spcBef>
              <a:defRPr sz="1300">
                <a:solidFill>
                  <a:srgbClr val="F1F5F9"/>
                </a:solidFill>
              </a:defRPr>
            </a:pPr>
            <a:r>
              <a:t>1. Visión Holística del Software: La ingeniería de software trasciende el código fuente; modelar formalmente bajo IEEE 830 y Kruchten 4+1 garantiza la mantenibilidad y reduce drásticamente el retrabajo.</a:t>
            </a:r>
            <a:br/>
            <a:br/>
            <a:r>
              <a:t>2. Cultura de Calidad y Resiliencia: La calidad no se comprueba al final, se diseña desde el inicio. La gestión de No Conformidades y testing sistemático asegura plataformas tolerantes a fallos en el mundo real.</a:t>
            </a:r>
            <a:br/>
            <a:br/>
            <a:r>
              <a:t>3. Proyección Laboral: Dominar metodologías ágiles (Scrum), control de versiones en Git y desarrollo full-stack con persistencia relacional consolida directamente mi perfil de egreso en Duoc UC para afrontar desafíos en la industria tecnológica.</a:t>
            </a:r>
          </a:p>
          <a:p>
            <a:pPr algn="ctr">
              <a:spcBef>
                <a:spcPts val="2000"/>
              </a:spcBef>
              <a:defRPr sz="1600" b="1">
                <a:solidFill>
                  <a:srgbClr val="22C55E"/>
                </a:solidFill>
              </a:defRPr>
            </a:pPr>
            <a:r>
              <a:t>¡Muchas Gracias por su Atención!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